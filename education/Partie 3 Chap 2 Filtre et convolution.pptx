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14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3CE16-0C5A-4D63-9798-2941909D4C2F}" type="datetimeFigureOut">
              <a:rPr lang="fr-FR" smtClean="0"/>
              <a:t>07/04/2025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77DBE-968B-4285-BED3-CBAF8A44F6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49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754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711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46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593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655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8D3676-45DB-443D-90DB-85AD8E59914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47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718936" y="2852936"/>
            <a:ext cx="10801146" cy="220824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814955" y="275692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777225" y="2340178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854950" y="2417910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2497201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967985"/>
            <a:ext cx="9292823" cy="215188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7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777225" y="196204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854950" y="203977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8" y="2119070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589855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6277591" y="1959983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6355316" y="203771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849184" y="211700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306567" y="2587790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63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1876403"/>
            <a:ext cx="6443876" cy="2208245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5748124" y="2202047"/>
            <a:ext cx="6443876" cy="2208245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56641" y="2069094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710601" y="2403572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4074294"/>
            <a:ext cx="6468055" cy="79353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5721828" y="2133277"/>
            <a:ext cx="6470171" cy="79353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3025" y="4232388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703501" y="4486492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844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777225" y="4560709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854950" y="4638441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717732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5188517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167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776469" y="4564592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854195" y="464232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348062" y="4721615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805445" y="519239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913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6248557" y="1615605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6326282" y="169333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820149" y="1772628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7277533" y="2243412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6248557" y="389229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6326282" y="397002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820149" y="4049320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277533" y="4520105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70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04798"/>
            <a:ext cx="12191999" cy="358164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438176"/>
            <a:ext cx="10801146" cy="79329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34216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431696"/>
            <a:ext cx="12192000" cy="76441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363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4655715" y="1604797"/>
            <a:ext cx="7536285" cy="31203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1604797"/>
            <a:ext cx="4655715" cy="31203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18936" y="1844824"/>
            <a:ext cx="3600712" cy="2688299"/>
          </a:xfrm>
        </p:spPr>
        <p:txBody>
          <a:bodyPr anchor="b">
            <a:normAutofit/>
          </a:bodyPr>
          <a:lstStyle>
            <a:lvl1pPr algn="r">
              <a:defRPr sz="2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556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4797"/>
            <a:ext cx="2975383" cy="3120347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2975383" y="1604797"/>
            <a:ext cx="5713129" cy="3120347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8688512" y="1604797"/>
            <a:ext cx="3503487" cy="312034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1" y="4725144"/>
            <a:ext cx="2975940" cy="960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975940" y="4725144"/>
            <a:ext cx="5712500" cy="96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8688512" y="4725144"/>
            <a:ext cx="3503487" cy="96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45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4051237" y="2022707"/>
            <a:ext cx="1578183" cy="157804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6671177" y="2022706"/>
            <a:ext cx="1578183" cy="157804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9291117" y="2022706"/>
            <a:ext cx="1578183" cy="15780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429401" y="2022705"/>
            <a:ext cx="1578183" cy="157804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3949628" y="1954974"/>
            <a:ext cx="1578183" cy="157804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6569568" y="1954973"/>
            <a:ext cx="1578183" cy="15780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円/楕円 50"/>
          <p:cNvSpPr/>
          <p:nvPr userDrawn="1"/>
        </p:nvSpPr>
        <p:spPr>
          <a:xfrm>
            <a:off x="9189508" y="1954972"/>
            <a:ext cx="1578183" cy="15780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327792" y="1954972"/>
            <a:ext cx="1578183" cy="1578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996939" y="1988842"/>
            <a:ext cx="1578183" cy="15780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16879" y="1988842"/>
            <a:ext cx="1578183" cy="15780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9236819" y="1988841"/>
            <a:ext cx="1578183" cy="15780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375103" y="1988840"/>
            <a:ext cx="1578183" cy="157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4503319" y="2495179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23260" y="2495178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9743199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1881483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36417" y="3667685"/>
            <a:ext cx="245555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25527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083980" y="419574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538839" y="3666122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546099" y="4252357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3704552" y="4194181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63041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166671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6325124" y="419574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787242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87242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8945696" y="419574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06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5164467" y="1887240"/>
            <a:ext cx="1967237" cy="19670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8605058" y="1887240"/>
            <a:ext cx="1967237" cy="1967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723876" y="1887238"/>
            <a:ext cx="1967237" cy="19670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5062858" y="1819507"/>
            <a:ext cx="1967237" cy="19670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8503449" y="1819506"/>
            <a:ext cx="1967237" cy="1967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622267" y="1819505"/>
            <a:ext cx="1967237" cy="19670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110169" y="1853376"/>
            <a:ext cx="1967237" cy="196706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8550760" y="1853375"/>
            <a:ext cx="1967237" cy="1967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9578" y="1853374"/>
            <a:ext cx="1967237" cy="19670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6105" y="3904247"/>
            <a:ext cx="30907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4151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77508" y="443230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534794" y="3902684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536625" y="4488919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039982" y="443074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975277" y="3904247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973478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8476836" y="443230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714199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157881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601563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6604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59328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4424027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825130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60119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4431936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825921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25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22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円/楕円 38"/>
          <p:cNvSpPr/>
          <p:nvPr userDrawn="1"/>
        </p:nvSpPr>
        <p:spPr>
          <a:xfrm>
            <a:off x="4198704" y="4487658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1378735" y="2148031"/>
            <a:ext cx="3373912" cy="33736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977278" y="254330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>
            <a:off x="1269469" y="2065267"/>
            <a:ext cx="3373912" cy="337361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78735" y="2148031"/>
            <a:ext cx="3277893" cy="327760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514564" y="2052020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433368" y="2083891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4867212" y="423155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5341171" y="2853952"/>
            <a:ext cx="5822435" cy="257801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5437190" y="273169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341171" y="2086482"/>
            <a:ext cx="5822435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966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2972488" y="2275085"/>
            <a:ext cx="2681623" cy="268139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1630623" y="4043348"/>
            <a:ext cx="1944955" cy="194478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246536" y="1861776"/>
            <a:ext cx="2053478" cy="20532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4784115" y="4840556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049571" y="4110206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178797" y="1790262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920134" y="2218873"/>
            <a:ext cx="2651041" cy="2650811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606675" y="4012103"/>
            <a:ext cx="1895548" cy="189538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602682" y="3544278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円/楕円 32"/>
          <p:cNvSpPr/>
          <p:nvPr userDrawn="1"/>
        </p:nvSpPr>
        <p:spPr>
          <a:xfrm>
            <a:off x="1376435" y="3771059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円/楕円 33"/>
          <p:cNvSpPr/>
          <p:nvPr userDrawn="1"/>
        </p:nvSpPr>
        <p:spPr>
          <a:xfrm>
            <a:off x="4245655" y="523727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6109413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6187138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681005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138389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6109413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6187138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681005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138389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762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6443807" y="1624809"/>
            <a:ext cx="1170920" cy="117081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696748" y="3947886"/>
            <a:ext cx="1170920" cy="117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6347074" y="2417828"/>
            <a:ext cx="5844927" cy="250251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3976" y="4342259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847771"/>
            <a:ext cx="4058079" cy="141272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099170" y="179797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339890" y="4978398"/>
            <a:ext cx="5175776" cy="108857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755009"/>
            <a:ext cx="5844927" cy="250251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360470" y="4782456"/>
            <a:ext cx="672555" cy="67249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7444284" y="1245020"/>
            <a:ext cx="585460" cy="58540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4257525"/>
            <a:ext cx="5844927" cy="628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6347074" y="2354618"/>
            <a:ext cx="5844927" cy="628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2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74523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811231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743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74523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74523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68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465581" y="4321975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242477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901937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61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45369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519683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4521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45369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45369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9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3123376" y="3707015"/>
            <a:ext cx="688391" cy="68833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804659" y="4343357"/>
            <a:ext cx="270677" cy="27065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905020" y="1877068"/>
            <a:ext cx="2775610" cy="27753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4615" y="193263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795754" y="1794303"/>
            <a:ext cx="2775610" cy="27753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886260" y="1877067"/>
            <a:ext cx="2696619" cy="269638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418597" y="1480280"/>
            <a:ext cx="377157" cy="3771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61262" y="4785754"/>
            <a:ext cx="377590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3242" y="5201608"/>
            <a:ext cx="3431947" cy="382623"/>
          </a:xfrm>
        </p:spPr>
        <p:txBody>
          <a:bodyPr anchor="t">
            <a:noAutofit/>
          </a:bodyPr>
          <a:lstStyle>
            <a:lvl1pPr algn="ctr">
              <a:defRPr sz="1333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124188" y="1671101"/>
            <a:ext cx="375231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141845" y="2257337"/>
            <a:ext cx="3724726" cy="144967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4237864" y="2199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4237864" y="3842550"/>
            <a:ext cx="552844" cy="552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4323138" y="3927817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4237863" y="4554531"/>
            <a:ext cx="552844" cy="5527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4323137" y="4639799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237864" y="5266513"/>
            <a:ext cx="552844" cy="5527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4323138" y="5351781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4790708" y="3878922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4790708" y="4590903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4790708" y="5302885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7986229" y="1668842"/>
            <a:ext cx="3374611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099905" y="219690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7979723" y="2404053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8066814" y="2804650"/>
            <a:ext cx="3425697" cy="287203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979723" y="3275051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8066814" y="3675649"/>
            <a:ext cx="3425697" cy="287203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979723" y="4146050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8066814" y="4546647"/>
            <a:ext cx="3425697" cy="287203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7979723" y="5017049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8066814" y="5417646"/>
            <a:ext cx="3425697" cy="287203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17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3689249"/>
            <a:ext cx="12192000" cy="9071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339" y="3689249"/>
            <a:ext cx="1914789" cy="907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0293515" y="3689247"/>
            <a:ext cx="1898486" cy="907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7527983" y="3689247"/>
            <a:ext cx="2774219" cy="907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4698984" y="3689247"/>
            <a:ext cx="2774219" cy="90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924765" y="3689248"/>
            <a:ext cx="2774219" cy="90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715910" y="3531405"/>
            <a:ext cx="406435" cy="406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495766" y="3531405"/>
            <a:ext cx="406435" cy="40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286275" y="3531405"/>
            <a:ext cx="406435" cy="40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0073260" y="3531405"/>
            <a:ext cx="406435" cy="40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104213" y="3023163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02904" y="2568384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02904" y="1619312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8914" y="252592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884069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82761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3618770" y="4919142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182761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674578" y="3008648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973270" y="2553869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973270" y="1604798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6409279" y="251140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477993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776684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212694" y="4919142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76684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377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392594" y="3606090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3948192"/>
            <a:ext cx="418276" cy="304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25748" y="2982608"/>
            <a:ext cx="1271293" cy="30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円/楕円 36"/>
          <p:cNvSpPr/>
          <p:nvPr userDrawn="1"/>
        </p:nvSpPr>
        <p:spPr>
          <a:xfrm>
            <a:off x="676719" y="2277536"/>
            <a:ext cx="169348" cy="1693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605769" y="3823734"/>
            <a:ext cx="279422" cy="2793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885191" y="3948192"/>
            <a:ext cx="1697367" cy="30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2558131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2291285" y="4910233"/>
            <a:ext cx="1271293" cy="304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2842257" y="5476454"/>
            <a:ext cx="169348" cy="1693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円/楕円 47"/>
          <p:cNvSpPr/>
          <p:nvPr userDrawn="1"/>
        </p:nvSpPr>
        <p:spPr>
          <a:xfrm>
            <a:off x="2774518" y="3823072"/>
            <a:ext cx="279422" cy="2793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正方形/長方形 48"/>
          <p:cNvSpPr/>
          <p:nvPr userDrawn="1"/>
        </p:nvSpPr>
        <p:spPr>
          <a:xfrm>
            <a:off x="3053940" y="3947533"/>
            <a:ext cx="1697367" cy="30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4726880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4460034" y="2985489"/>
            <a:ext cx="1271293" cy="304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5011006" y="2280417"/>
            <a:ext cx="169348" cy="1693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4947484" y="3823734"/>
            <a:ext cx="279422" cy="2793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5226906" y="3948192"/>
            <a:ext cx="1697367" cy="304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6899846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6633000" y="4910233"/>
            <a:ext cx="1271293" cy="304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7183971" y="5476454"/>
            <a:ext cx="169348" cy="169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7116233" y="3823072"/>
            <a:ext cx="279422" cy="2793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正方形/長方形 60"/>
          <p:cNvSpPr/>
          <p:nvPr userDrawn="1"/>
        </p:nvSpPr>
        <p:spPr>
          <a:xfrm>
            <a:off x="7395655" y="3947533"/>
            <a:ext cx="1697367" cy="304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9068595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8801748" y="2985489"/>
            <a:ext cx="1271293" cy="3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円/楕円 63"/>
          <p:cNvSpPr/>
          <p:nvPr userDrawn="1"/>
        </p:nvSpPr>
        <p:spPr>
          <a:xfrm>
            <a:off x="9352720" y="2280417"/>
            <a:ext cx="169348" cy="1693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9286174" y="3823734"/>
            <a:ext cx="279422" cy="27939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519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8967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985155" y="261905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9444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20997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1445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5309935" y="261905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1922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550722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555209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9650686" y="2619056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5997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053940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058427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3153904" y="486053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2346262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398137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402624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7498100" y="4860535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6690458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9565595" y="3948191"/>
            <a:ext cx="2626405" cy="304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89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2517304"/>
            <a:ext cx="12191999" cy="12985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二等辺三角形 7"/>
          <p:cNvSpPr/>
          <p:nvPr userDrawn="1"/>
        </p:nvSpPr>
        <p:spPr>
          <a:xfrm>
            <a:off x="5362892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2336060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二等辺三角形 7"/>
          <p:cNvSpPr/>
          <p:nvPr userDrawn="1"/>
        </p:nvSpPr>
        <p:spPr>
          <a:xfrm>
            <a:off x="7236329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4209497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二等辺三角形 7"/>
          <p:cNvSpPr/>
          <p:nvPr userDrawn="1"/>
        </p:nvSpPr>
        <p:spPr>
          <a:xfrm>
            <a:off x="9109767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6082934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二等辺三角形 7"/>
          <p:cNvSpPr/>
          <p:nvPr userDrawn="1"/>
        </p:nvSpPr>
        <p:spPr>
          <a:xfrm>
            <a:off x="10983204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7956372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二等辺三角形 7"/>
          <p:cNvSpPr/>
          <p:nvPr userDrawn="1"/>
        </p:nvSpPr>
        <p:spPr>
          <a:xfrm>
            <a:off x="3489455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462623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4780193"/>
            <a:ext cx="10801146" cy="11706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4955" y="468418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2412195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4285632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6159069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8032507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538758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11637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2993718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487106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6748407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8625751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136650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3136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554047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934970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731586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969677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173582" y="4363360"/>
            <a:ext cx="2304192" cy="502708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2554381" y="4363360"/>
            <a:ext cx="2304192" cy="502708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9696778" y="4363360"/>
            <a:ext cx="2304192" cy="502708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7315980" y="4363360"/>
            <a:ext cx="2304192" cy="502708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4935068" y="4363360"/>
            <a:ext cx="2304192" cy="502708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6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1844824"/>
            <a:ext cx="4753324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平行四辺形 11"/>
          <p:cNvSpPr/>
          <p:nvPr userDrawn="1"/>
        </p:nvSpPr>
        <p:spPr>
          <a:xfrm>
            <a:off x="1200104" y="2564904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82310" y="1964837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2400208" y="3653025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平行四辺形 22"/>
          <p:cNvSpPr/>
          <p:nvPr userDrawn="1"/>
        </p:nvSpPr>
        <p:spPr>
          <a:xfrm>
            <a:off x="3599122" y="4741146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1200104" y="2932945"/>
            <a:ext cx="4753324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2400209" y="4021065"/>
            <a:ext cx="4753324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3599122" y="5109187"/>
            <a:ext cx="4753324" cy="72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81474" y="3052958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2681711" y="4141079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3022" y="5229200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9743" y="1778951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400456" y="5047088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999981" y="2866576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231293" y="3955193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305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19817" y="5651836"/>
            <a:ext cx="4451740" cy="4802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3951593" y="4430292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3951593" y="4430291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6538285" y="3208747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38284" y="3208746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9124977" y="1987203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16"/>
          <p:cNvSpPr/>
          <p:nvPr userDrawn="1"/>
        </p:nvSpPr>
        <p:spPr>
          <a:xfrm>
            <a:off x="9124977" y="1987202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4591374" y="4910580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00ACE2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0ACE2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7178489" y="3689036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87C32F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87C32F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9765607" y="2467492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FD497C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FD497C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6081211" y="4430291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6"/>
          <p:cNvSpPr/>
          <p:nvPr userDrawn="1"/>
        </p:nvSpPr>
        <p:spPr>
          <a:xfrm>
            <a:off x="3483242" y="5651836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26"/>
          <p:cNvSpPr/>
          <p:nvPr userDrawn="1"/>
        </p:nvSpPr>
        <p:spPr>
          <a:xfrm>
            <a:off x="8668482" y="3205702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15860" y="4329480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6481" y="4833243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501015" y="476830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1736" y="3112336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12356" y="3616098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4106891" y="3551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10415" y="1886392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01035" y="2390154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6695569" y="232521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40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4024165" y="2092719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2258787" y="3387727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640568" y="346508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385590" y="355222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509245" y="4682737"/>
            <a:ext cx="4002631" cy="605404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60188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1493180" y="8014598"/>
            <a:ext cx="997539" cy="1690186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2116300" y="1643371"/>
            <a:ext cx="6582505" cy="48746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4072367" y="4848671"/>
            <a:ext cx="273562" cy="273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1" name="円/楕円 100"/>
          <p:cNvSpPr/>
          <p:nvPr userDrawn="1"/>
        </p:nvSpPr>
        <p:spPr>
          <a:xfrm>
            <a:off x="7588032" y="2258651"/>
            <a:ext cx="273562" cy="273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91027" y="476009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36048" y="484723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5830199" y="3553661"/>
            <a:ext cx="273562" cy="273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405947" y="2170079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50968" y="2257211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77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2273935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3181195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4088455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995715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2133836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3042255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950674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859092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9915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556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176817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267543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358269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48995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520635" y="539721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1628080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2536498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444917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353336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1105" y="5261754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5077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435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831177" y="527501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831177" y="4364761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831177" y="1633997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831177" y="2544252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831177" y="345450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0705880" y="1721621"/>
            <a:ext cx="552048" cy="5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0705880" y="2631537"/>
            <a:ext cx="552048" cy="5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0705880" y="3541791"/>
            <a:ext cx="552048" cy="55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0705880" y="4452385"/>
            <a:ext cx="552048" cy="5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B143DD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0705880" y="5362641"/>
            <a:ext cx="552048" cy="55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615536" y="1637991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4615536" y="2548246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615536" y="345850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15536" y="4368755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15536" y="527901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923547" y="1721283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923547" y="263153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923547" y="536230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923547" y="354179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923547" y="445204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20532" y="1815608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20532" y="5456627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120532" y="2725862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120532" y="3636116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120532" y="4546371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68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909455"/>
            <a:ext cx="12193058" cy="1736436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662013" y="442438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306141" y="3373548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4950268" y="4074104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6594395" y="3023270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8238523" y="3723826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882650" y="267299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651682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746704" y="4509065"/>
            <a:ext cx="304826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3390832" y="3458231"/>
            <a:ext cx="304826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4959" y="4158787"/>
            <a:ext cx="304826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679086" y="3107953"/>
            <a:ext cx="304826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323214" y="3808509"/>
            <a:ext cx="304826" cy="3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9967341" y="2757675"/>
            <a:ext cx="304826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52705" y="4999454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46934" y="5503217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18904" y="543827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179734" y="277797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173962" y="190518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2445932" y="2757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54249" y="4658522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848477" y="5162285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4120447" y="509734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475849" y="247341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470078" y="160062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5742048" y="245311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133266" y="4299008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7127494" y="4802770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7399464" y="4737832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64104" y="2112953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58332" y="1240163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9030303" y="2092658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1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>
            <a:off x="5941698" y="2849639"/>
            <a:ext cx="1166081" cy="116598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5941696" y="2849639"/>
            <a:ext cx="1166081" cy="116598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5941698" y="1683659"/>
            <a:ext cx="1166081" cy="116598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00ACE2">
                  <a:lumMod val="75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5941748" y="4015569"/>
            <a:ext cx="1165980" cy="11660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5941749" y="4015568"/>
            <a:ext cx="1165980" cy="11660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7107830" y="4015569"/>
            <a:ext cx="1165980" cy="1166081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4775615" y="4015620"/>
            <a:ext cx="1166081" cy="116598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直角三角形 16"/>
          <p:cNvSpPr/>
          <p:nvPr userDrawn="1"/>
        </p:nvSpPr>
        <p:spPr>
          <a:xfrm>
            <a:off x="4775616" y="4015621"/>
            <a:ext cx="1166081" cy="11659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4775615" y="5181601"/>
            <a:ext cx="1166081" cy="116598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4775664" y="2849590"/>
            <a:ext cx="1165980" cy="1166081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4775663" y="2849591"/>
            <a:ext cx="1165980" cy="1166081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3609582" y="2849590"/>
            <a:ext cx="1165980" cy="1166081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6168437" y="3550362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6168427" y="424705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5427390" y="4247048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5412583" y="356516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599178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99178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57311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857311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141647" y="2873826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41648" y="3265715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989123" y="5225143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989124" y="5617033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55853" y="4108913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12883" y="4500803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07421" y="1733189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664451" y="2125079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0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483957" y="1988581"/>
            <a:ext cx="11708043" cy="1650504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325279" y="2909557"/>
            <a:ext cx="11866721" cy="888193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483957" y="3989855"/>
            <a:ext cx="11708043" cy="1650504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325279" y="3831191"/>
            <a:ext cx="11866721" cy="888193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7199748" y="2220269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7199748" y="3138210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99748" y="4047801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199748" y="4957392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715354" y="2032666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715354" y="2962109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715354" y="38790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715354" y="47963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94931" y="2014562"/>
            <a:ext cx="4560902" cy="147542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4931" y="4211308"/>
            <a:ext cx="4560902" cy="170323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12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5950263" y="2692400"/>
            <a:ext cx="91932" cy="4165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6149804" y="2190480"/>
            <a:ext cx="91932" cy="46675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6349344" y="3326113"/>
            <a:ext cx="91934" cy="35318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750722" y="4895273"/>
            <a:ext cx="91933" cy="196272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5551182" y="3790920"/>
            <a:ext cx="90826" cy="30670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48886" y="4461746"/>
            <a:ext cx="91932" cy="23962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3894768" y="870805"/>
            <a:ext cx="91201" cy="5001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747465" y="2983785"/>
            <a:ext cx="775922" cy="7758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2463512" y="1848153"/>
            <a:ext cx="775922" cy="7758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771260" y="4119419"/>
            <a:ext cx="775922" cy="7758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565276" y="3448592"/>
            <a:ext cx="775922" cy="7758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8957360" y="2350072"/>
            <a:ext cx="775922" cy="775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9345321" y="4547113"/>
            <a:ext cx="775922" cy="7758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4506565" y="2418693"/>
            <a:ext cx="91201" cy="41773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4638969" y="678913"/>
            <a:ext cx="91200" cy="31143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7451124" y="1191539"/>
            <a:ext cx="91200" cy="30929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8085623" y="1256479"/>
            <a:ext cx="91200" cy="5160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7567273" y="3072889"/>
            <a:ext cx="91200" cy="3724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6150532" y="2190475"/>
            <a:ext cx="91200" cy="9120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6350074" y="3326111"/>
            <a:ext cx="91200" cy="91208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6549615" y="4461741"/>
            <a:ext cx="91200" cy="91208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5550804" y="3790916"/>
            <a:ext cx="91200" cy="9120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5950267" y="2692395"/>
            <a:ext cx="91200" cy="91208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5751539" y="4889435"/>
            <a:ext cx="91200" cy="91208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2666712" y="2051335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9160559" y="255325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950664" y="3186967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974459" y="4322601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0768476" y="365177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9548520" y="475029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39435" y="1764679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3237897" y="2307114"/>
            <a:ext cx="2513639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529692" y="2901480"/>
            <a:ext cx="3735493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528153" y="3443914"/>
            <a:ext cx="3746268" cy="610849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548720" y="4037112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547182" y="4579547"/>
            <a:ext cx="2782663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555813" y="2271802"/>
            <a:ext cx="2401547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548886" y="2783600"/>
            <a:ext cx="2408474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835502" y="3339098"/>
            <a:ext cx="3704195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24817" y="3850897"/>
            <a:ext cx="3714880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833456" y="4468842"/>
            <a:ext cx="249303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826265" y="4980640"/>
            <a:ext cx="2500227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32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167542" y="4019490"/>
            <a:ext cx="1113281" cy="1113185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911178" y="2464344"/>
            <a:ext cx="1113281" cy="1113185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6911178" y="4019490"/>
            <a:ext cx="1113281" cy="1113185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4167542" y="2464344"/>
            <a:ext cx="1113281" cy="1113185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539360" y="4850284"/>
            <a:ext cx="1113281" cy="1113185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539360" y="1652302"/>
            <a:ext cx="1113281" cy="1113185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927234" y="2639371"/>
            <a:ext cx="2337532" cy="2337329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738395" y="171349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38395" y="221725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8835164" y="215231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738395" y="323020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738395" y="373396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835164" y="36690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738395" y="4746915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738395" y="525067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8835164" y="5185739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1942" y="171562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78272" y="221938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32985" y="2154444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91942" y="3232329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78272" y="373609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432985" y="3671154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1942" y="474904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478272" y="5252803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432985" y="518786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6744890" y="1726795"/>
            <a:ext cx="1888169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8212328" y="3365455"/>
            <a:ext cx="425666" cy="389796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3764365" y="5215467"/>
            <a:ext cx="1780574" cy="603973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3696626" y="3686629"/>
            <a:ext cx="735454" cy="290285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3720818" y="2140858"/>
            <a:ext cx="774163" cy="280609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7994375" y="5176762"/>
            <a:ext cx="638684" cy="127294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5882757" y="1974349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7264766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7264766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5882757" y="5191693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4515332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4515332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5143774" y="3106058"/>
            <a:ext cx="1901104" cy="1441751"/>
          </a:xfrm>
        </p:spPr>
        <p:txBody>
          <a:bodyPr anchor="ctr">
            <a:noAutofit/>
          </a:bodyPr>
          <a:lstStyle>
            <a:lvl1pPr algn="ctr">
              <a:defRPr sz="24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252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3440524"/>
            <a:ext cx="5182864" cy="1826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1614416"/>
            <a:ext cx="5182864" cy="1826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7009136" y="3440522"/>
            <a:ext cx="5182864" cy="18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6476154" y="3707892"/>
            <a:ext cx="1291256" cy="1291368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7009136" y="1614412"/>
            <a:ext cx="5182864" cy="1826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6476154" y="1881780"/>
            <a:ext cx="1291256" cy="12913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4425837" y="3707892"/>
            <a:ext cx="1291256" cy="1291368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4425837" y="1881780"/>
            <a:ext cx="1291256" cy="1291368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4537236" y="1881785"/>
            <a:ext cx="1291256" cy="1291368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4537236" y="1881785"/>
            <a:ext cx="1291256" cy="1291368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6363508" y="1881784"/>
            <a:ext cx="1291256" cy="129136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6363508" y="1881784"/>
            <a:ext cx="1291256" cy="1291368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4537236" y="3707898"/>
            <a:ext cx="1291256" cy="1291368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4537236" y="3707898"/>
            <a:ext cx="1291256" cy="1291368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6363507" y="3707897"/>
            <a:ext cx="1291256" cy="1291368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6363507" y="3707897"/>
            <a:ext cx="1291256" cy="1291368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4822999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6649270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4823000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6649271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417570" y="1692446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5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417347" y="3518554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3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8076898" y="1692446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1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8076674" y="3518553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2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1614416"/>
            <a:ext cx="350759" cy="1826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0" y="3440528"/>
            <a:ext cx="350759" cy="1826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1841242" y="1614408"/>
            <a:ext cx="350759" cy="1826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841241" y="3440520"/>
            <a:ext cx="350759" cy="1826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18936" y="5528338"/>
            <a:ext cx="10801146" cy="6692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814955" y="543232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7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8"/>
          <p:cNvSpPr/>
          <p:nvPr userDrawn="1"/>
        </p:nvSpPr>
        <p:spPr>
          <a:xfrm>
            <a:off x="4175620" y="1825776"/>
            <a:ext cx="3840761" cy="3846189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6119715" y="1825775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6015041" y="3670625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4169858" y="3565968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4274697" y="1720408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8106398" y="2468358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8106398" y="1851330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8106398" y="4658601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8106398" y="4041574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424878" y="2477725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424878" y="1860698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4878" y="4667969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24878" y="4050941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4655715" y="3445426"/>
            <a:ext cx="2850563" cy="515469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133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6963291" y="2215289"/>
            <a:ext cx="900178" cy="90010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7195999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966172" y="4458922"/>
            <a:ext cx="900178" cy="90010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7198880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362995" y="4458922"/>
            <a:ext cx="900178" cy="90010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4595703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4362995" y="2215289"/>
            <a:ext cx="900178" cy="90010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4595703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8177125" y="241357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7125" y="4592064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849098" y="460606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849098" y="2408923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8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ドーナツ 7"/>
          <p:cNvSpPr/>
          <p:nvPr userDrawn="1"/>
        </p:nvSpPr>
        <p:spPr>
          <a:xfrm>
            <a:off x="2528604" y="1447543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4736617" y="2156346"/>
            <a:ext cx="2717708" cy="2789393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7454325" y="2977198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8803786" y="1317168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564629" y="1592484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9790844" y="3233872"/>
            <a:ext cx="2147433" cy="2204076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208519" y="3242191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334757" y="5331725"/>
            <a:ext cx="5527957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40119" y="327511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871653" y="2306745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572754" y="4101393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47780" y="2306745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757580" y="3692502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9168021" y="2185628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0149663" y="4078176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45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7209538" y="3040746"/>
            <a:ext cx="2194268" cy="2194077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1683533" y="1924353"/>
            <a:ext cx="554347" cy="5542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95225" y="1845924"/>
            <a:ext cx="793652" cy="7935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720123" y="2062238"/>
            <a:ext cx="2750695" cy="2750457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2749637" y="1744130"/>
            <a:ext cx="2194268" cy="2194077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877344" y="3393611"/>
            <a:ext cx="1744586" cy="1748975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92051" y="2189233"/>
            <a:ext cx="1744586" cy="1748975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0109020" y="3013527"/>
            <a:ext cx="1849521" cy="184936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541947" y="1632580"/>
            <a:ext cx="2014029" cy="2013854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285128" y="3505084"/>
            <a:ext cx="866321" cy="8662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4081856" y="3938207"/>
            <a:ext cx="676409" cy="6763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833395" y="1929359"/>
            <a:ext cx="793652" cy="7935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1083397" y="2362358"/>
            <a:ext cx="277173" cy="27714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1340954" y="1539210"/>
            <a:ext cx="549846" cy="54979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548961" y="4446207"/>
            <a:ext cx="696439" cy="6963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0383943" y="1738687"/>
            <a:ext cx="629679" cy="6296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7470818" y="2561025"/>
            <a:ext cx="452541" cy="4525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2375224" y="2312541"/>
            <a:ext cx="277173" cy="27714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9222250" y="3981997"/>
            <a:ext cx="529775" cy="5297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612457" y="4318642"/>
            <a:ext cx="529775" cy="5297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39599" y="272192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4943905" y="3151701"/>
            <a:ext cx="226563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948091" y="2062238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825692" y="2492014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7422659" y="3363291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300261" y="3793067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877344" y="399619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92051" y="278482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8626300" y="2361641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0114294" y="3670796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199834" y="5331725"/>
            <a:ext cx="9783595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26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32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5199275" y="2236384"/>
            <a:ext cx="1792391" cy="303642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433195" y="1940835"/>
            <a:ext cx="4512761" cy="4512369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34860" y="1508786"/>
            <a:ext cx="960190" cy="960107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5063144" y="4511094"/>
            <a:ext cx="624123" cy="624069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052119" y="5301210"/>
            <a:ext cx="935533" cy="935451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406874" y="1508786"/>
            <a:ext cx="816161" cy="960107"/>
          </a:xfrm>
        </p:spPr>
        <p:txBody>
          <a:bodyPr anchor="ctr">
            <a:noAutofit/>
          </a:bodyPr>
          <a:lstStyle>
            <a:lvl1pPr algn="ctr">
              <a:defRPr sz="3601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2305423" y="3429250"/>
            <a:ext cx="768309" cy="76824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77158" y="4293096"/>
            <a:ext cx="4224835" cy="672075"/>
          </a:xfrm>
        </p:spPr>
        <p:txBody>
          <a:bodyPr anchor="ctr">
            <a:normAutofit/>
          </a:bodyPr>
          <a:lstStyle>
            <a:lvl1pPr algn="ctr">
              <a:defRPr sz="2933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288037" y="5532123"/>
            <a:ext cx="790183" cy="790115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391070" y="1248654"/>
            <a:ext cx="528104" cy="528058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44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7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3173"/>
            <a:ext cx="10515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133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your date here</a:t>
            </a:r>
            <a:endParaRPr kumimoji="1" 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större - a multipurpose PowerPoint template</a:t>
            </a:r>
            <a:endParaRPr kumimoji="1" lang="en-US" sz="1333" b="0" i="0" u="none" strike="noStrike" kern="1200" cap="none" spc="0" normalizeH="0" baseline="0" noProof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8DBF4-37B7-4C4F-9728-A1C100B177EE}" type="slidenum">
              <a:rPr kumimoji="1" 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0" name="Rectangle 19"/>
          <p:cNvSpPr/>
          <p:nvPr userDrawn="1"/>
        </p:nvSpPr>
        <p:spPr>
          <a:xfrm>
            <a:off x="5" y="-9732"/>
            <a:ext cx="12191999" cy="1181307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3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244373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69554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87AB0-F954-803F-57EF-A76D4DA29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6DC396-077F-4EFD-0E6B-A14EF5F66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D255A5-521D-1A2B-2265-C13C5D4F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633BC-ED69-4DA4-8ED6-4CE8EFFC5A0F}" type="datetimeFigureOut">
              <a:rPr kumimoji="0" lang="fr-FR" sz="1800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07/04/2025</a:t>
            </a:fld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DB84A4-2ED8-280D-6F9F-511BE89E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33" b="0" i="0" u="none" strike="noStrike" kern="1200" cap="none" spc="0" normalizeH="0" baseline="0" noProof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C4DE8F-C5A5-540B-EB6C-9CB4079E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DA0FD9-8430-4218-858F-2546E64DF956}" type="slidenum">
              <a:rPr kumimoji="0" lang="fr-FR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05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048598" y="164638"/>
            <a:ext cx="956720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05935" y="6309239"/>
            <a:ext cx="3860800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55534" y="905648"/>
            <a:ext cx="384076" cy="384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1596" y="0"/>
            <a:ext cx="912180" cy="681270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681974" y="681271"/>
            <a:ext cx="528104" cy="52805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207829" y="149092"/>
            <a:ext cx="661953" cy="6618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1022059" y="6100230"/>
            <a:ext cx="289591" cy="289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435106" y="6111048"/>
            <a:ext cx="720142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860585" y="6469495"/>
            <a:ext cx="480095" cy="388506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35106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47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088556" rtl="0" eaLnBrk="1" latinLnBrk="0" hangingPunct="1">
        <a:spcBef>
          <a:spcPct val="0"/>
        </a:spcBef>
        <a:buNone/>
        <a:defRPr kumimoji="1" sz="4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088556" rtl="0" eaLnBrk="1" latinLnBrk="0" hangingPunct="1">
        <a:lnSpc>
          <a:spcPct val="120000"/>
        </a:lnSpc>
        <a:spcBef>
          <a:spcPts val="800"/>
        </a:spcBef>
        <a:buFont typeface="Arial" panose="020B0604020202020204" pitchFamily="34" charset="0"/>
        <a:buNone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84452" indent="-340174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334" kern="1200">
          <a:solidFill>
            <a:schemeClr val="tx1"/>
          </a:solidFill>
          <a:latin typeface="+mn-lt"/>
          <a:ea typeface="+mn-ea"/>
          <a:cs typeface="+mn-cs"/>
        </a:defRPr>
      </a:lvl2pPr>
      <a:lvl3pPr marL="136069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67" kern="1200">
          <a:solidFill>
            <a:schemeClr val="tx1"/>
          </a:solidFill>
          <a:latin typeface="+mn-lt"/>
          <a:ea typeface="+mn-ea"/>
          <a:cs typeface="+mn-cs"/>
        </a:defRPr>
      </a:lvl3pPr>
      <a:lvl4pPr marL="1904973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51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530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08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8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64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78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4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2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1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669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94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4225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slideLayout" Target="../slideLayouts/slideLayout45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5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67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74527" y="698813"/>
            <a:ext cx="79393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Filtre-Convolution 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– Partie </a:t>
            </a:r>
            <a:r>
              <a:rPr kumimoji="0" lang="it-IT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3</a:t>
            </a:r>
            <a:endParaRPr kumimoji="0" lang="fr-FR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6007406" y="1638250"/>
            <a:ext cx="6115110" cy="481887"/>
            <a:chOff x="591382" y="2342219"/>
            <a:chExt cx="7110684" cy="481887"/>
          </a:xfrm>
        </p:grpSpPr>
        <p:sp>
          <p:nvSpPr>
            <p:cNvPr id="7" name="ZoneTexte 6"/>
            <p:cNvSpPr txBox="1"/>
            <p:nvPr/>
          </p:nvSpPr>
          <p:spPr>
            <a:xfrm>
              <a:off x="591382" y="2342219"/>
              <a:ext cx="9120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e(t)</a:t>
              </a:r>
            </a:p>
          </p:txBody>
        </p:sp>
        <p:sp>
          <p:nvSpPr>
            <p:cNvPr id="8" name="Flèche droite 7"/>
            <p:cNvSpPr/>
            <p:nvPr/>
          </p:nvSpPr>
          <p:spPr>
            <a:xfrm>
              <a:off x="1533475" y="2357605"/>
              <a:ext cx="1596012" cy="446280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3129487" y="2362441"/>
              <a:ext cx="1944216" cy="461665"/>
            </a:xfrm>
            <a:prstGeom prst="rect">
              <a:avLst/>
            </a:prstGeom>
            <a:noFill/>
            <a:ln w="28575"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h(t)</a:t>
              </a:r>
            </a:p>
          </p:txBody>
        </p:sp>
        <p:sp>
          <p:nvSpPr>
            <p:cNvPr id="12" name="Flèche droite 11"/>
            <p:cNvSpPr/>
            <p:nvPr/>
          </p:nvSpPr>
          <p:spPr>
            <a:xfrm>
              <a:off x="5114211" y="2357605"/>
              <a:ext cx="1596012" cy="446280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6790059" y="2342220"/>
              <a:ext cx="9120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s(t)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287185" y="1406691"/>
            <a:ext cx="572022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Un filtre est composé de trois ingrédients: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e(t): signal d’entrée(input)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h</a:t>
            </a: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(t): la réponse impulsionnelle (la boite noire)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</a:t>
            </a: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(t): signal de sortie (output)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9585" y="2786701"/>
            <a:ext cx="1128322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Le calcul du signal de sortie s(t) est effectué en utilisant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le produit de convolution (*) entre le signal d’entrée et la réponse impulsionnelle h(t)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68538" y="4264961"/>
            <a:ext cx="173192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/>
        </p:nvGraphicFramePr>
        <p:xfrm>
          <a:off x="2763745" y="3658791"/>
          <a:ext cx="5253306" cy="115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4" imgW="2133600" imgH="469900" progId="Equation.3">
                  <p:embed/>
                </p:oleObj>
              </mc:Choice>
              <mc:Fallback>
                <p:oleObj name="Équation" r:id="rId4" imgW="2133600" imgH="469900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745" y="3658791"/>
                        <a:ext cx="5253306" cy="115697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437875" y="5106947"/>
            <a:ext cx="1151097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Grâce à la transformée de Fourier, on peut évaluer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S(f),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qui s'exprime comme le produit simple de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E(f)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et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H(f).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Ensuite, on applique la transformée de Fourier inverse pour obtenir le signal de sortie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s(t).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/>
            </a:r>
            <a:b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</a:b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Ici,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H(f)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représente la réponse fréquentielle, c'est-à-dire la transformée de Fourier de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h(t)</a:t>
            </a:r>
            <a:r>
              <a:rPr kumimoji="0" lang="fr-FR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.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89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68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11900" y="620155"/>
            <a:ext cx="787908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Exemple – Convolution temporelle 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363690" y="1717429"/>
            <a:ext cx="6115110" cy="481887"/>
            <a:chOff x="591382" y="2342219"/>
            <a:chExt cx="7110684" cy="481887"/>
          </a:xfrm>
        </p:grpSpPr>
        <p:sp>
          <p:nvSpPr>
            <p:cNvPr id="7" name="ZoneTexte 6"/>
            <p:cNvSpPr txBox="1"/>
            <p:nvPr/>
          </p:nvSpPr>
          <p:spPr>
            <a:xfrm>
              <a:off x="591382" y="2342219"/>
              <a:ext cx="9120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x</a:t>
              </a:r>
              <a:r>
                <a:rPr kumimoji="0" lang="fr-FR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(t</a:t>
              </a: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)</a:t>
              </a:r>
            </a:p>
          </p:txBody>
        </p:sp>
        <p:sp>
          <p:nvSpPr>
            <p:cNvPr id="8" name="Flèche droite 7"/>
            <p:cNvSpPr/>
            <p:nvPr/>
          </p:nvSpPr>
          <p:spPr>
            <a:xfrm>
              <a:off x="1533475" y="2357605"/>
              <a:ext cx="1596012" cy="446280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3129487" y="2362441"/>
              <a:ext cx="1944216" cy="461665"/>
            </a:xfrm>
            <a:prstGeom prst="rect">
              <a:avLst/>
            </a:prstGeom>
            <a:noFill/>
            <a:ln w="28575"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h(t)</a:t>
              </a:r>
            </a:p>
          </p:txBody>
        </p:sp>
        <p:sp>
          <p:nvSpPr>
            <p:cNvPr id="13" name="Flèche droite 12"/>
            <p:cNvSpPr/>
            <p:nvPr/>
          </p:nvSpPr>
          <p:spPr>
            <a:xfrm>
              <a:off x="5114211" y="2357605"/>
              <a:ext cx="1596012" cy="446280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6790059" y="2342220"/>
              <a:ext cx="9120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y</a:t>
              </a:r>
              <a:r>
                <a:rPr kumimoji="0" lang="fr-FR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(t</a:t>
              </a: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Open Sans"/>
                  <a:cs typeface="+mn-cs"/>
                </a:rPr>
                <a:t>)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254401" y="3050327"/>
            <a:ext cx="6087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Trouver le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signal de sortie 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y(t) si le signal d’entrée</a:t>
            </a:r>
            <a:r>
              <a:rPr kumimoji="0" lang="fr-FR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03991" y="3069991"/>
            <a:ext cx="3713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et la réponse impulsionnelle  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/>
        </p:nvGraphicFramePr>
        <p:xfrm>
          <a:off x="681944" y="3527090"/>
          <a:ext cx="1599260" cy="43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Équation" r:id="rId4" imgW="838080" imgH="228600" progId="Equation.3">
                  <p:embed/>
                </p:oleObj>
              </mc:Choice>
              <mc:Fallback>
                <p:oleObj name="Équation" r:id="rId4" imgW="838080" imgH="228600" progId="Equation.3">
                  <p:embed/>
                  <p:pic>
                    <p:nvPicPr>
                      <p:cNvPr id="4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44" y="3527090"/>
                        <a:ext cx="1599260" cy="435337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/>
        </p:nvGraphicFramePr>
        <p:xfrm>
          <a:off x="6366755" y="2993951"/>
          <a:ext cx="1610610" cy="439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Équation" r:id="rId6" imgW="838200" imgH="228600" progId="Equation.3">
                  <p:embed/>
                </p:oleObj>
              </mc:Choice>
              <mc:Fallback>
                <p:oleObj name="Équation" r:id="rId6" imgW="838200" imgH="228600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6755" y="2993951"/>
                        <a:ext cx="1610610" cy="439257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/>
        </p:nvGraphicFramePr>
        <p:xfrm>
          <a:off x="1158430" y="5471884"/>
          <a:ext cx="2391412" cy="524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Équation" r:id="rId8" imgW="1040948" imgH="228501" progId="Equation.3">
                  <p:embed/>
                </p:oleObj>
              </mc:Choice>
              <mc:Fallback>
                <p:oleObj name="Équation" r:id="rId8" imgW="1040948" imgH="228501" progId="Equation.3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430" y="5471884"/>
                        <a:ext cx="2391412" cy="5249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 20"/>
          <p:cNvGraphicFramePr>
            <a:graphicFrameLocks noChangeAspect="1"/>
          </p:cNvGraphicFramePr>
          <p:nvPr/>
        </p:nvGraphicFramePr>
        <p:xfrm>
          <a:off x="3584679" y="5180310"/>
          <a:ext cx="4374535" cy="1108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Équation" r:id="rId10" imgW="1905000" imgH="482600" progId="Equation.3">
                  <p:embed/>
                </p:oleObj>
              </mc:Choice>
              <mc:Fallback>
                <p:oleObj name="Équation" r:id="rId10" imgW="1905000" imgH="482600" progId="Equation.3">
                  <p:embed/>
                  <p:pic>
                    <p:nvPicPr>
                      <p:cNvPr id="21" name="Obje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679" y="5180310"/>
                        <a:ext cx="4374535" cy="1108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/>
        </p:nvGraphicFramePr>
        <p:xfrm>
          <a:off x="6563558" y="1360176"/>
          <a:ext cx="5417545" cy="1165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Équation" r:id="rId12" imgW="2184400" imgH="469900" progId="Equation.3">
                  <p:embed/>
                </p:oleObj>
              </mc:Choice>
              <mc:Fallback>
                <p:oleObj name="Équation" r:id="rId12" imgW="2184400" imgH="469900" progId="Equation.3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558" y="1360176"/>
                        <a:ext cx="5417545" cy="1165402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827024" y="43038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28" name="Objet 27"/>
          <p:cNvGraphicFramePr>
            <a:graphicFrameLocks noChangeAspect="1"/>
          </p:cNvGraphicFramePr>
          <p:nvPr/>
        </p:nvGraphicFramePr>
        <p:xfrm>
          <a:off x="629266" y="3752587"/>
          <a:ext cx="10360239" cy="121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Équation" r:id="rId14" imgW="4127500" imgH="482600" progId="Equation.3">
                  <p:embed/>
                </p:oleObj>
              </mc:Choice>
              <mc:Fallback>
                <p:oleObj name="Équation" r:id="rId14" imgW="4127500" imgH="482600" progId="Equation.3">
                  <p:embed/>
                  <p:pic>
                    <p:nvPicPr>
                      <p:cNvPr id="28" name="Obje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66" y="3752587"/>
                        <a:ext cx="10360239" cy="12113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 29"/>
          <p:cNvGraphicFramePr>
            <a:graphicFrameLocks noChangeAspect="1"/>
          </p:cNvGraphicFramePr>
          <p:nvPr/>
        </p:nvGraphicFramePr>
        <p:xfrm>
          <a:off x="8485785" y="5305380"/>
          <a:ext cx="2167145" cy="523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Équation" r:id="rId16" imgW="736280" imgH="177723" progId="Equation.3">
                  <p:embed/>
                </p:oleObj>
              </mc:Choice>
              <mc:Fallback>
                <p:oleObj name="Équation" r:id="rId16" imgW="736280" imgH="177723" progId="Equation.3">
                  <p:embed/>
                  <p:pic>
                    <p:nvPicPr>
                      <p:cNvPr id="30" name="Obje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785" y="5305380"/>
                        <a:ext cx="2167145" cy="52310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48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69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2056" y="649651"/>
            <a:ext cx="787908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Exemple – Convolution temporelle 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/>
        </p:nvGraphicFramePr>
        <p:xfrm>
          <a:off x="8904373" y="1442399"/>
          <a:ext cx="2245503" cy="542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Équation" r:id="rId4" imgW="736280" imgH="177723" progId="Equation.3">
                  <p:embed/>
                </p:oleObj>
              </mc:Choice>
              <mc:Fallback>
                <p:oleObj name="Équation" r:id="rId4" imgW="736280" imgH="177723" progId="Equation.3">
                  <p:embed/>
                  <p:pic>
                    <p:nvPicPr>
                      <p:cNvPr id="3" name="Obje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373" y="1442399"/>
                        <a:ext cx="2245503" cy="542018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e 15"/>
          <p:cNvGrpSpPr/>
          <p:nvPr/>
        </p:nvGrpSpPr>
        <p:grpSpPr>
          <a:xfrm>
            <a:off x="837398" y="1185182"/>
            <a:ext cx="7806846" cy="972779"/>
            <a:chOff x="249713" y="1185182"/>
            <a:chExt cx="8413999" cy="1165792"/>
          </a:xfrm>
        </p:grpSpPr>
        <p:graphicFrame>
          <p:nvGraphicFramePr>
            <p:cNvPr id="4" name="Objet 3"/>
            <p:cNvGraphicFramePr>
              <a:graphicFrameLocks noChangeAspect="1"/>
            </p:cNvGraphicFramePr>
            <p:nvPr/>
          </p:nvGraphicFramePr>
          <p:xfrm>
            <a:off x="249713" y="1188122"/>
            <a:ext cx="3004509" cy="1162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Équation" r:id="rId6" imgW="1244600" imgH="482600" progId="Equation.3">
                    <p:embed/>
                  </p:oleObj>
                </mc:Choice>
                <mc:Fallback>
                  <p:oleObj name="Équation" r:id="rId6" imgW="1244600" imgH="482600" progId="Equation.3">
                    <p:embed/>
                    <p:pic>
                      <p:nvPicPr>
                        <p:cNvPr id="4" name="Obje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13" y="1188122"/>
                          <a:ext cx="3004509" cy="1162852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t 4"/>
            <p:cNvGraphicFramePr>
              <a:graphicFrameLocks noChangeAspect="1"/>
            </p:cNvGraphicFramePr>
            <p:nvPr/>
          </p:nvGraphicFramePr>
          <p:xfrm>
            <a:off x="3523502" y="1185182"/>
            <a:ext cx="5140210" cy="1165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Équation" r:id="rId8" imgW="2095200" imgH="482400" progId="Equation.3">
                    <p:embed/>
                  </p:oleObj>
                </mc:Choice>
                <mc:Fallback>
                  <p:oleObj name="Équation" r:id="rId8" imgW="2095200" imgH="482400" progId="Equation.3">
                    <p:embed/>
                    <p:pic>
                      <p:nvPicPr>
                        <p:cNvPr id="5" name="Obje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3502" y="1185182"/>
                          <a:ext cx="5140210" cy="1165172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635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2514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15" name="Objet 14"/>
          <p:cNvGraphicFramePr>
            <a:graphicFrameLocks noChangeAspect="1"/>
          </p:cNvGraphicFramePr>
          <p:nvPr/>
        </p:nvGraphicFramePr>
        <p:xfrm>
          <a:off x="2560325" y="2107936"/>
          <a:ext cx="6123903" cy="471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Équation" r:id="rId10" imgW="3035300" imgH="2336800" progId="Equation.3">
                  <p:embed/>
                </p:oleObj>
              </mc:Choice>
              <mc:Fallback>
                <p:oleObj name="Équation" r:id="rId10" imgW="3035300" imgH="2336800" progId="Equation.3">
                  <p:embed/>
                  <p:pic>
                    <p:nvPicPr>
                      <p:cNvPr id="15" name="Obje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325" y="2107936"/>
                        <a:ext cx="6123903" cy="4714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19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70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74690" y="275302"/>
            <a:ext cx="385233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Exemple </a:t>
            </a:r>
            <a:r>
              <a:rPr kumimoji="0" lang="it-IT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– Filtre 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65684" y="790380"/>
            <a:ext cx="9743552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Grâce à la transformée de Fourier, on peut évaluer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S(f),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qui s'exprime comme le produit simple de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E(f)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et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H(f).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Ensuite, on applique la transformée de Fourier inverse pour obtenir le signal de sortie </a:t>
            </a:r>
            <a:r>
              <a:rPr kumimoji="0" lang="fr-FR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s(t).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/>
        </p:nvGraphicFramePr>
        <p:xfrm>
          <a:off x="2701612" y="2899051"/>
          <a:ext cx="8200680" cy="3958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Équation" r:id="rId4" imgW="3683000" imgH="1778000" progId="Equation.3">
                  <p:embed/>
                </p:oleObj>
              </mc:Choice>
              <mc:Fallback>
                <p:oleObj name="Équation" r:id="rId4" imgW="3683000" imgH="1778000" progId="Equation.3">
                  <p:embed/>
                  <p:pic>
                    <p:nvPicPr>
                      <p:cNvPr id="4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612" y="2899051"/>
                        <a:ext cx="8200680" cy="395894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54401" y="2482436"/>
            <a:ext cx="6087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Trouver le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signal de sortie 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y(t) si le signal d’entrée</a:t>
            </a:r>
            <a:r>
              <a:rPr kumimoji="0" lang="fr-FR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03991" y="2502100"/>
            <a:ext cx="3713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et la réponse impulsionnelle  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14" name="Objet 13"/>
          <p:cNvGraphicFramePr>
            <a:graphicFrameLocks noChangeAspect="1"/>
          </p:cNvGraphicFramePr>
          <p:nvPr/>
        </p:nvGraphicFramePr>
        <p:xfrm>
          <a:off x="681944" y="2959199"/>
          <a:ext cx="1599260" cy="43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Équation" r:id="rId6" imgW="838080" imgH="228600" progId="Equation.3">
                  <p:embed/>
                </p:oleObj>
              </mc:Choice>
              <mc:Fallback>
                <p:oleObj name="Équation" r:id="rId6" imgW="838080" imgH="228600" progId="Equation.3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44" y="2959199"/>
                        <a:ext cx="1599260" cy="435337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 14"/>
          <p:cNvGraphicFramePr>
            <a:graphicFrameLocks noChangeAspect="1"/>
          </p:cNvGraphicFramePr>
          <p:nvPr/>
        </p:nvGraphicFramePr>
        <p:xfrm>
          <a:off x="6366755" y="2426060"/>
          <a:ext cx="1610610" cy="439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Équation" r:id="rId8" imgW="838200" imgH="228600" progId="Equation.3">
                  <p:embed/>
                </p:oleObj>
              </mc:Choice>
              <mc:Fallback>
                <p:oleObj name="Équation" r:id="rId8" imgW="838200" imgH="228600" progId="Equation.3">
                  <p:embed/>
                  <p:pic>
                    <p:nvPicPr>
                      <p:cNvPr id="15" name="Obje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6755" y="2426060"/>
                        <a:ext cx="1610610" cy="439257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/>
        </p:nvGraphicFramePr>
        <p:xfrm>
          <a:off x="1212783" y="1730285"/>
          <a:ext cx="9689508" cy="830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Équation" r:id="rId10" imgW="2667000" imgH="228600" progId="Equation.3">
                  <p:embed/>
                </p:oleObj>
              </mc:Choice>
              <mc:Fallback>
                <p:oleObj name="Équation" r:id="rId10" imgW="2667000" imgH="228600" progId="Equation.3">
                  <p:embed/>
                  <p:pic>
                    <p:nvPicPr>
                      <p:cNvPr id="7" name="Obje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783" y="1730285"/>
                        <a:ext cx="9689508" cy="830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708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71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/>
        </p:nvGraphicFramePr>
        <p:xfrm>
          <a:off x="1241657" y="1886126"/>
          <a:ext cx="5650032" cy="146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Équation" r:id="rId4" imgW="1612900" imgH="419100" progId="Equation.3">
                  <p:embed/>
                </p:oleObj>
              </mc:Choice>
              <mc:Fallback>
                <p:oleObj name="Équation" r:id="rId4" imgW="1612900" imgH="419100" progId="Equation.3">
                  <p:embed/>
                  <p:pic>
                    <p:nvPicPr>
                      <p:cNvPr id="3" name="Obje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657" y="1886126"/>
                        <a:ext cx="5650032" cy="14681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/>
        </p:nvGraphicFramePr>
        <p:xfrm>
          <a:off x="1175797" y="3417976"/>
          <a:ext cx="6626888" cy="118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Équation" r:id="rId6" imgW="2336800" imgH="419100" progId="Equation.3">
                  <p:embed/>
                </p:oleObj>
              </mc:Choice>
              <mc:Fallback>
                <p:oleObj name="Équation" r:id="rId6" imgW="2336800" imgH="419100" progId="Equation.3">
                  <p:embed/>
                  <p:pic>
                    <p:nvPicPr>
                      <p:cNvPr id="4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797" y="3417976"/>
                        <a:ext cx="6626888" cy="1188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/>
        </p:nvGraphicFramePr>
        <p:xfrm>
          <a:off x="1199315" y="4442862"/>
          <a:ext cx="6731530" cy="1187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Équation" r:id="rId8" imgW="2374900" imgH="419100" progId="Equation.3">
                  <p:embed/>
                </p:oleObj>
              </mc:Choice>
              <mc:Fallback>
                <p:oleObj name="Équation" r:id="rId8" imgW="2374900" imgH="419100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315" y="4442862"/>
                        <a:ext cx="6731530" cy="11879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94636" y="15977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94636" y="24740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94636" y="33503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13" name="Objet 12"/>
          <p:cNvGraphicFramePr>
            <a:graphicFrameLocks noChangeAspect="1"/>
          </p:cNvGraphicFramePr>
          <p:nvPr/>
        </p:nvGraphicFramePr>
        <p:xfrm>
          <a:off x="866274" y="1157769"/>
          <a:ext cx="9689508" cy="830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Équation" r:id="rId10" imgW="2667000" imgH="228600" progId="Equation.3">
                  <p:embed/>
                </p:oleObj>
              </mc:Choice>
              <mc:Fallback>
                <p:oleObj name="Équation" r:id="rId10" imgW="2667000" imgH="228600" progId="Equation.3">
                  <p:embed/>
                  <p:pic>
                    <p:nvPicPr>
                      <p:cNvPr id="13" name="Obje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274" y="1157769"/>
                        <a:ext cx="9689508" cy="830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774690" y="275302"/>
            <a:ext cx="385233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Exemple </a:t>
            </a:r>
            <a:r>
              <a:rPr kumimoji="0" lang="it-IT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– Filtre 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66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ja-JP" sz="1867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72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0792" y="1934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/>
        </p:nvGraphicFramePr>
        <p:xfrm>
          <a:off x="2136809" y="848113"/>
          <a:ext cx="8219974" cy="600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Équation" r:id="rId4" imgW="2692400" imgH="1968500" progId="Equation.3">
                  <p:embed/>
                </p:oleObj>
              </mc:Choice>
              <mc:Fallback>
                <p:oleObj name="Équation" r:id="rId4" imgW="2692400" imgH="1968500" progId="Equation.3">
                  <p:embed/>
                  <p:pic>
                    <p:nvPicPr>
                      <p:cNvPr id="6" name="Obje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809" y="848113"/>
                        <a:ext cx="8219974" cy="6009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774690" y="275302"/>
            <a:ext cx="385233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Exemple </a:t>
            </a:r>
            <a:r>
              <a:rPr kumimoji="0" lang="it-IT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cs typeface="+mn-cs"/>
              </a:rPr>
              <a:t>– Filtre 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7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Grand écran</PresentationFormat>
  <Paragraphs>36</Paragraphs>
  <Slides>6</Slides>
  <Notes>6</Notes>
  <HiddenSlides>0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20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Spica Neue</vt:lpstr>
      <vt:lpstr>Spica Neue Light</vt:lpstr>
      <vt:lpstr>Wingdings</vt:lpstr>
      <vt:lpstr>3_Vega - Header</vt:lpstr>
      <vt:lpstr>Microsoft Equation 3.0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Administrator</dc:creator>
  <cp:lastModifiedBy>Administrator</cp:lastModifiedBy>
  <cp:revision>1</cp:revision>
  <dcterms:created xsi:type="dcterms:W3CDTF">2025-04-07T14:51:06Z</dcterms:created>
  <dcterms:modified xsi:type="dcterms:W3CDTF">2025-04-07T14:51:35Z</dcterms:modified>
</cp:coreProperties>
</file>